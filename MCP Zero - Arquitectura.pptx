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3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825007"/>
            <a:ext cx="1114425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575643"/>
            <a:ext cx="16764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057525"/>
            <a:ext cx="2671762" cy="15388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8037" y="3057525"/>
            <a:ext cx="2671762" cy="153888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057525"/>
            <a:ext cx="2671762" cy="153888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6362" y="3057525"/>
            <a:ext cx="2671762" cy="15388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1937593"/>
            <a:ext cx="11668125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3900" b="0" i="0" u="none" dirty="0" err="1">
                <a:solidFill>
                  <a:srgbClr val="0F172A"/>
                </a:solidFill>
                <a:latin typeface="Outfit ExtraBold"/>
              </a:rPr>
              <a:t>Agente</a:t>
            </a:r>
            <a:r>
              <a:rPr sz="3900" b="0" i="0" u="none" dirty="0">
                <a:solidFill>
                  <a:srgbClr val="0F172A"/>
                </a:solidFill>
                <a:latin typeface="Outfit ExtraBold"/>
              </a:rPr>
              <a:t> </a:t>
            </a:r>
            <a:r>
              <a:rPr sz="3900" b="0" i="0" u="none" dirty="0">
                <a:solidFill>
                  <a:srgbClr val="0284C7"/>
                </a:solidFill>
                <a:latin typeface="Outfit ExtraBold"/>
              </a:rPr>
              <a:t>ZERO</a:t>
            </a:r>
            <a:r>
              <a:rPr sz="3900" b="0" i="0" u="none" dirty="0">
                <a:solidFill>
                  <a:srgbClr val="0F172A"/>
                </a:solidFill>
                <a:latin typeface="Outfit ExtraBold"/>
              </a:rPr>
              <a:t> &amp; </a:t>
            </a:r>
            <a:r>
              <a:rPr sz="3900" b="0" i="0" u="none" dirty="0" err="1">
                <a:solidFill>
                  <a:srgbClr val="0F172A"/>
                </a:solidFill>
                <a:latin typeface="Outfit ExtraBold"/>
              </a:rPr>
              <a:t>mcp</a:t>
            </a:r>
            <a:r>
              <a:rPr sz="3900" b="0" i="0" u="none" dirty="0">
                <a:solidFill>
                  <a:srgbClr val="0F172A"/>
                </a:solidFill>
                <a:latin typeface="Outfit ExtraBold"/>
              </a:rPr>
              <a:t>-zero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5" y="2608064"/>
            <a:ext cx="11144250" cy="239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 dirty="0" err="1" smtClean="0">
                <a:solidFill>
                  <a:srgbClr val="64748B"/>
                </a:solidFill>
                <a:latin typeface="Plus Jakarta Sans"/>
              </a:rPr>
              <a:t>Agente</a:t>
            </a:r>
            <a:r>
              <a:rPr sz="1350" b="0" i="0" u="none" dirty="0" smtClean="0">
                <a:solidFill>
                  <a:srgbClr val="64748B"/>
                </a:solidFill>
                <a:latin typeface="Plus Jakarta Sans"/>
              </a:rPr>
              <a:t> de IA </a:t>
            </a:r>
            <a:r>
              <a:rPr sz="1350" b="0" i="0" u="none" dirty="0" err="1" smtClean="0">
                <a:solidFill>
                  <a:srgbClr val="64748B"/>
                </a:solidFill>
                <a:latin typeface="Plus Jakarta Sans"/>
              </a:rPr>
              <a:t>especializado</a:t>
            </a:r>
            <a:r>
              <a:rPr sz="1350" b="0" i="0" u="none" dirty="0" smtClean="0">
                <a:solidFill>
                  <a:srgbClr val="64748B"/>
                </a:solidFill>
                <a:latin typeface="Plus Jakarta Sans"/>
              </a:rPr>
              <a:t> y </a:t>
            </a:r>
            <a:r>
              <a:rPr sz="1350" b="0" i="0" u="none" dirty="0" err="1" smtClean="0">
                <a:solidFill>
                  <a:srgbClr val="64748B"/>
                </a:solidFill>
                <a:latin typeface="Plus Jakarta Sans"/>
              </a:rPr>
              <a:t>puente</a:t>
            </a:r>
            <a:r>
              <a:rPr sz="1350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350" b="0" i="0" u="none" dirty="0" err="1" smtClean="0">
                <a:solidFill>
                  <a:srgbClr val="64748B"/>
                </a:solidFill>
                <a:latin typeface="Plus Jakarta Sans"/>
              </a:rPr>
              <a:t>colaborativo</a:t>
            </a:r>
            <a:r>
              <a:rPr sz="1350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350" b="0" i="0" u="none" dirty="0" err="1" smtClean="0">
                <a:solidFill>
                  <a:srgbClr val="64748B"/>
                </a:solidFill>
                <a:latin typeface="Plus Jakarta Sans"/>
              </a:rPr>
              <a:t>inteligente</a:t>
            </a:r>
            <a:r>
              <a:rPr sz="1350" b="0" i="0" u="none" dirty="0" smtClean="0">
                <a:solidFill>
                  <a:srgbClr val="64748B"/>
                </a:solidFill>
                <a:latin typeface="Plus Jakarta Sans"/>
              </a:rPr>
              <a:t> con la </a:t>
            </a:r>
            <a:r>
              <a:rPr sz="1350" b="0" i="0" u="none" dirty="0" err="1" smtClean="0">
                <a:solidFill>
                  <a:srgbClr val="64748B"/>
                </a:solidFill>
                <a:latin typeface="Plus Jakarta Sans"/>
              </a:rPr>
              <a:t>plataforma</a:t>
            </a:r>
            <a:r>
              <a:rPr sz="1350" b="0" i="0" u="none" dirty="0" smtClean="0">
                <a:solidFill>
                  <a:srgbClr val="64748B"/>
                </a:solidFill>
                <a:latin typeface="Plus Jakarta Sans"/>
              </a:rPr>
              <a:t> IBM </a:t>
            </a:r>
            <a:r>
              <a:rPr sz="1350" b="0" i="0" u="none" dirty="0" err="1" smtClean="0">
                <a:solidFill>
                  <a:srgbClr val="64748B"/>
                </a:solidFill>
                <a:latin typeface="Plus Jakarta Sans"/>
              </a:rPr>
              <a:t>iSeries</a:t>
            </a:r>
            <a:endParaRPr sz="1350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3875" y="4986932"/>
            <a:ext cx="125165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94A3B8"/>
                </a:solidFill>
                <a:latin typeface="Plus Jakarta Sans"/>
              </a:rPr>
              <a:t>Agente</a:t>
            </a:r>
            <a:r>
              <a:rPr sz="1200" b="1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94A3B8"/>
                </a:solidFill>
                <a:latin typeface="Plus Jakarta Sans"/>
              </a:rPr>
              <a:t>Especializado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00" b="0" i="0" u="none" dirty="0">
                <a:solidFill>
                  <a:srgbClr val="1E293B"/>
                </a:solidFill>
                <a:latin typeface="Plus Jakarta Sans SemiBold"/>
              </a:rPr>
              <a:t>Zero (AI Agent)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0275" y="4986932"/>
            <a:ext cx="124777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94A3B8"/>
                </a:solidFill>
                <a:latin typeface="Plus Jakarta Sans"/>
              </a:rPr>
              <a:t>Servidor</a:t>
            </a:r>
            <a:r>
              <a:rPr sz="1200" b="1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200" b="1" i="0" u="none" dirty="0" err="1">
                <a:solidFill>
                  <a:srgbClr val="94A3B8"/>
                </a:solidFill>
                <a:latin typeface="Plus Jakarta Sans"/>
              </a:rPr>
              <a:t>Orquestador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1E293B"/>
                </a:solidFill>
                <a:latin typeface="Plus Jakarta Sans SemiBold"/>
              </a:rPr>
              <a:t>mcp</a:t>
            </a:r>
            <a:r>
              <a:rPr sz="1200" b="0" i="0" u="none" dirty="0">
                <a:solidFill>
                  <a:srgbClr val="1E293B"/>
                </a:solidFill>
                <a:latin typeface="Plus Jakarta Sans SemiBold"/>
              </a:rPr>
              <a:t>-zero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8050" y="5039319"/>
            <a:ext cx="21907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94A3B8"/>
                </a:solidFill>
                <a:latin typeface="Plus Jakarta Sans"/>
              </a:rPr>
              <a:t>Arquitectura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 </a:t>
            </a:r>
            <a:endParaRPr lang="es-CL" sz="1200" b="0" i="0" u="none" dirty="0" smtClean="0">
              <a:solidFill>
                <a:srgbClr val="334155"/>
              </a:solidFill>
              <a:latin typeface="Plus Jakarta Sans"/>
            </a:endParaRPr>
          </a:p>
          <a:p>
            <a:pPr algn="l"/>
            <a:r>
              <a:rPr sz="1200" b="0" i="0" u="none" dirty="0" smtClean="0">
                <a:solidFill>
                  <a:srgbClr val="1E293B"/>
                </a:solidFill>
                <a:latin typeface="Plus Jakarta Sans SemiBold"/>
              </a:rPr>
              <a:t>MCP </a:t>
            </a:r>
            <a:r>
              <a:rPr sz="1200" b="0" i="0" u="none" dirty="0">
                <a:solidFill>
                  <a:srgbClr val="1E293B"/>
                </a:solidFill>
                <a:latin typeface="Plus Jakarta Sans SemiBold"/>
              </a:rPr>
              <a:t>Local + Skills + Hooks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" y="1637555"/>
            <a:ext cx="123825" cy="123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" y="3648075"/>
            <a:ext cx="234791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 smtClean="0">
                <a:solidFill>
                  <a:srgbClr val="0F172A"/>
                </a:solidFill>
                <a:latin typeface="Outfit"/>
              </a:rPr>
              <a:t>Zon</a:t>
            </a:r>
            <a:r>
              <a:rPr lang="es-CL" sz="1200" b="1" i="0" u="none" dirty="0" smtClean="0">
                <a:solidFill>
                  <a:srgbClr val="0F172A"/>
                </a:solidFill>
                <a:latin typeface="Outfit"/>
              </a:rPr>
              <a:t>a</a:t>
            </a:r>
            <a:endParaRPr sz="12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3895725"/>
            <a:ext cx="2347912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Zona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segura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y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estable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para la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interacción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transferencia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y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auditoría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fuentes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con el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iSeries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962" y="3648075"/>
            <a:ext cx="234791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smtClean="0">
                <a:solidFill>
                  <a:srgbClr val="0F172A"/>
                </a:solidFill>
                <a:latin typeface="Outfit"/>
              </a:rPr>
              <a:t>E</a:t>
            </a:r>
            <a:r>
              <a:rPr lang="es-CL" sz="1200" b="1" i="0" u="none" dirty="0" err="1" smtClean="0">
                <a:solidFill>
                  <a:srgbClr val="0F172A"/>
                </a:solidFill>
                <a:latin typeface="Outfit"/>
              </a:rPr>
              <a:t>ntendimiento</a:t>
            </a:r>
            <a:endParaRPr sz="12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09962" y="3895725"/>
            <a:ext cx="2347912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Entiende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el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pasado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del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iSeries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: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analiza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interpreta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y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descifra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código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s-CL" sz="975" b="0" i="0" u="none" dirty="0" err="1" smtClean="0">
                <a:solidFill>
                  <a:srgbClr val="475569"/>
                </a:solidFill>
                <a:latin typeface="Plus Jakarta Sans"/>
              </a:rPr>
              <a:t>iseries</a:t>
            </a:r>
            <a:r>
              <a:rPr sz="975" b="0" i="0" u="none" dirty="0" smtClean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y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estructuras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históricas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4125" y="3648075"/>
            <a:ext cx="234791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00" b="1" i="0" u="none" dirty="0" smtClean="0">
                <a:solidFill>
                  <a:srgbClr val="0F172A"/>
                </a:solidFill>
                <a:latin typeface="Outfit"/>
              </a:rPr>
              <a:t>Razonamiento</a:t>
            </a:r>
            <a:endParaRPr sz="12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34125" y="3895725"/>
            <a:ext cx="2347912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Lógica avanzada de IA fusionada con la resiliencia, robustez y consistencia nativa del iSeries.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8287" y="3648075"/>
            <a:ext cx="234791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00" b="1" i="0" u="none" dirty="0" err="1" smtClean="0">
                <a:solidFill>
                  <a:srgbClr val="0F172A"/>
                </a:solidFill>
                <a:latin typeface="Outfit"/>
              </a:rPr>
              <a:t>Optimizacion</a:t>
            </a:r>
            <a:endParaRPr sz="12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58287" y="3895725"/>
            <a:ext cx="2347912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Sinergia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IA +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iSeries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: alto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rendimiento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técnico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optimizando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el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consumo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975" b="0" i="0" u="none" dirty="0" err="1">
                <a:solidFill>
                  <a:srgbClr val="475569"/>
                </a:solidFill>
                <a:latin typeface="Plus Jakarta Sans"/>
              </a:rPr>
              <a:t>contexto</a:t>
            </a:r>
            <a:r>
              <a:rPr sz="975" b="0" i="0" u="none" dirty="0">
                <a:solidFill>
                  <a:srgbClr val="475569"/>
                </a:solidFill>
                <a:latin typeface="Plus Jakarta Sans"/>
              </a:rPr>
              <a:t> y </a:t>
            </a:r>
            <a:r>
              <a:rPr sz="975" b="0" i="0" u="none" dirty="0" err="1" smtClean="0">
                <a:solidFill>
                  <a:srgbClr val="475569"/>
                </a:solidFill>
                <a:latin typeface="Plus Jakarta Sans"/>
              </a:rPr>
              <a:t>recursos</a:t>
            </a:r>
            <a:r>
              <a:rPr lang="es-CL" sz="975" b="0" i="0" u="none" dirty="0" smtClean="0">
                <a:solidFill>
                  <a:srgbClr val="475569"/>
                </a:solidFill>
                <a:latin typeface="Plus Jakarta Sans"/>
              </a:rPr>
              <a:t> (</a:t>
            </a:r>
            <a:r>
              <a:rPr lang="es-CL" sz="975" b="0" i="0" u="none" dirty="0" err="1" smtClean="0">
                <a:solidFill>
                  <a:srgbClr val="475569"/>
                </a:solidFill>
                <a:latin typeface="Plus Jakarta Sans"/>
              </a:rPr>
              <a:t>Tokens</a:t>
            </a:r>
            <a:r>
              <a:rPr lang="es-CL" sz="975" b="0" i="0" u="none" dirty="0" smtClean="0">
                <a:solidFill>
                  <a:srgbClr val="475569"/>
                </a:solidFill>
                <a:latin typeface="Plus Jakarta Sans"/>
              </a:rPr>
              <a:t>)</a:t>
            </a:r>
            <a:r>
              <a:rPr sz="975" b="0" i="0" u="none" dirty="0" smtClean="0">
                <a:solidFill>
                  <a:srgbClr val="475569"/>
                </a:solidFill>
                <a:latin typeface="Plus Jakarta Sans"/>
              </a:rPr>
              <a:t>.</a:t>
            </a:r>
            <a:endParaRPr sz="975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3267075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F172A"/>
                </a:solidFill>
                <a:latin typeface="Outfit ExtraBold"/>
              </a:rPr>
              <a:t>Z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28912" y="3267075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09962" y="3267075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F172A"/>
                </a:solidFill>
                <a:latin typeface="Outfit ExtraBold"/>
              </a:rPr>
              <a:t>E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3075" y="3267075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34125" y="3267075"/>
            <a:ext cx="2000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F172A"/>
                </a:solidFill>
                <a:latin typeface="Outfit ExtraBold"/>
              </a:rPr>
              <a:t>R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7237" y="3267075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58287" y="3267075"/>
            <a:ext cx="2476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F172A"/>
                </a:solidFill>
                <a:latin typeface="Outfit ExtraBold"/>
              </a:rPr>
              <a:t>O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01400" y="3267075"/>
            <a:ext cx="304800" cy="3048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14637" y="3352800"/>
            <a:ext cx="13335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38800" y="3352800"/>
            <a:ext cx="13335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62962" y="3352800"/>
            <a:ext cx="13335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87125" y="3352800"/>
            <a:ext cx="133350" cy="133350"/>
          </a:xfrm>
          <a:prstGeom prst="rect">
            <a:avLst/>
          </a:prstGeom>
        </p:spPr>
      </p:pic>
      <p:sp>
        <p:nvSpPr>
          <p:cNvPr id="38" name="TextBox 15"/>
          <p:cNvSpPr txBox="1"/>
          <p:nvPr/>
        </p:nvSpPr>
        <p:spPr>
          <a:xfrm>
            <a:off x="457754" y="5930184"/>
            <a:ext cx="11210369" cy="359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1364"/>
              </a:lnSpc>
              <a:defRPr sz="975" b="0" i="0" u="none">
                <a:solidFill>
                  <a:srgbClr val="475569"/>
                </a:solidFill>
                <a:latin typeface="Plus Jakarta Sans"/>
              </a:defRPr>
            </a:lvl1pPr>
          </a:lstStyle>
          <a:p>
            <a:r>
              <a:rPr lang="es-CL" sz="1100" b="1" dirty="0"/>
              <a:t>MCP (</a:t>
            </a:r>
            <a:r>
              <a:rPr lang="es-CL" sz="1100" b="1" dirty="0" err="1"/>
              <a:t>Model</a:t>
            </a:r>
            <a:r>
              <a:rPr lang="es-CL" sz="1100" b="1" dirty="0"/>
              <a:t> </a:t>
            </a:r>
            <a:r>
              <a:rPr lang="es-CL" sz="1100" b="1" dirty="0" err="1"/>
              <a:t>Context</a:t>
            </a:r>
            <a:r>
              <a:rPr lang="es-CL" sz="1100" b="1" dirty="0"/>
              <a:t> </a:t>
            </a:r>
            <a:r>
              <a:rPr lang="es-CL" sz="1100" b="1" dirty="0" err="1"/>
              <a:t>Protocol</a:t>
            </a:r>
            <a:r>
              <a:rPr lang="es-CL" sz="1100" b="1" dirty="0"/>
              <a:t> o Protocolo de Contexto de </a:t>
            </a:r>
            <a:r>
              <a:rPr lang="es-CL" sz="1100" b="1" dirty="0" smtClean="0"/>
              <a:t>Modelo) </a:t>
            </a:r>
            <a:endParaRPr lang="es-CL" dirty="0"/>
          </a:p>
          <a:p>
            <a:r>
              <a:rPr lang="es-CL" dirty="0" smtClean="0"/>
              <a:t>Es </a:t>
            </a:r>
            <a:r>
              <a:rPr lang="es-CL" dirty="0"/>
              <a:t>un estándar abierto creado por </a:t>
            </a:r>
            <a:r>
              <a:rPr lang="es-CL" dirty="0" err="1"/>
              <a:t>Anthropic</a:t>
            </a:r>
            <a:r>
              <a:rPr lang="es-CL" dirty="0"/>
              <a:t> que funciona como un puerto USB universal para la inteligencia artificial.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28900"/>
            <a:ext cx="3562350" cy="21983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25" y="2628900"/>
            <a:ext cx="3562350" cy="21983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775" y="2628900"/>
            <a:ext cx="3562350" cy="2198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1062" y="424147"/>
            <a:ext cx="11310937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 err="1">
                <a:solidFill>
                  <a:srgbClr val="0F172A"/>
                </a:solidFill>
                <a:latin typeface="Outfit"/>
              </a:rPr>
              <a:t>Desafíos</a:t>
            </a:r>
            <a:r>
              <a:rPr sz="2550" b="1" i="0" u="none" dirty="0">
                <a:solidFill>
                  <a:srgbClr val="0F172A"/>
                </a:solidFill>
                <a:latin typeface="Outfit"/>
              </a:rPr>
              <a:t> </a:t>
            </a:r>
            <a:r>
              <a:rPr sz="2550" b="1" i="0" u="none" dirty="0" err="1">
                <a:solidFill>
                  <a:srgbClr val="0F172A"/>
                </a:solidFill>
                <a:latin typeface="Outfit"/>
              </a:rPr>
              <a:t>en</a:t>
            </a:r>
            <a:r>
              <a:rPr sz="2550" b="1" i="0" u="none" dirty="0">
                <a:solidFill>
                  <a:srgbClr val="0F172A"/>
                </a:solidFill>
                <a:latin typeface="Outfit"/>
              </a:rPr>
              <a:t> el </a:t>
            </a:r>
            <a:r>
              <a:rPr sz="2550" b="1" i="0" u="none" dirty="0" err="1">
                <a:solidFill>
                  <a:srgbClr val="0F172A"/>
                </a:solidFill>
                <a:latin typeface="Outfit"/>
              </a:rPr>
              <a:t>Desarrollo</a:t>
            </a:r>
            <a:r>
              <a:rPr sz="2550" b="1" i="0" u="none" dirty="0">
                <a:solidFill>
                  <a:srgbClr val="0F172A"/>
                </a:solidFill>
                <a:latin typeface="Outfit"/>
              </a:rPr>
              <a:t> </a:t>
            </a:r>
            <a:r>
              <a:rPr sz="2550" b="1" i="0" u="none" dirty="0" err="1" smtClean="0">
                <a:solidFill>
                  <a:srgbClr val="0F172A"/>
                </a:solidFill>
                <a:latin typeface="Outfit"/>
              </a:rPr>
              <a:t>iSeries</a:t>
            </a:r>
            <a:r>
              <a:rPr lang="es-CL" sz="2550" b="1" i="0" u="none" dirty="0" smtClean="0">
                <a:solidFill>
                  <a:srgbClr val="0F172A"/>
                </a:solidFill>
                <a:latin typeface="Outfit"/>
              </a:rPr>
              <a:t> para la IA</a:t>
            </a:r>
            <a:endParaRPr sz="2550" b="1" i="0" u="none" dirty="0">
              <a:solidFill>
                <a:srgbClr val="0F172A"/>
              </a:solidFill>
              <a:latin typeface="Outfit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99020"/>
            <a:ext cx="242887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886075"/>
            <a:ext cx="438150" cy="438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050" y="3476625"/>
            <a:ext cx="3200400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Outfit SemiBold"/>
              </a:rPr>
              <a:t>Fuentes Dispersos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769965"/>
            <a:ext cx="304800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Los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códigos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fuentes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iSeries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se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encuentran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repartidos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en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múltiples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bibliotecas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. 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La IA </a:t>
            </a: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no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conoce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de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antemano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la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ubicación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exacta de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cada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Fuente</a:t>
            </a: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.</a:t>
            </a:r>
            <a:endParaRPr sz="1050" b="0" i="0" u="none" dirty="0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886075"/>
            <a:ext cx="438150" cy="438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3476625"/>
            <a:ext cx="3200400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Outfit SemiBold"/>
              </a:rPr>
              <a:t>Manejo de Codificación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69965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La traducción manual entre EBCDIC y UTF-8 es propensa a errores críticos de encoding durante la transferencia y visualización de archivos.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950" y="2886075"/>
            <a:ext cx="438150" cy="4381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62950" y="3476625"/>
            <a:ext cx="3200400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Outfit SemiBold"/>
              </a:rPr>
              <a:t>Riesgo en Auditoría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2950" y="3769965"/>
            <a:ext cx="3048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El </a:t>
            </a:r>
            <a:r>
              <a:rPr sz="1050" b="0" i="0" u="none" dirty="0" err="1" smtClean="0">
                <a:solidFill>
                  <a:srgbClr val="64748B"/>
                </a:solidFill>
                <a:latin typeface="Plus Jakarta Sans"/>
              </a:rPr>
              <a:t>reemplazo</a:t>
            </a: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de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fuentes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desde la IA </a:t>
            </a:r>
            <a:r>
              <a:rPr sz="1050" b="0" i="0" u="none" dirty="0" err="1" smtClean="0">
                <a:solidFill>
                  <a:srgbClr val="64748B"/>
                </a:solidFill>
                <a:latin typeface="Plus Jakarta Sans"/>
              </a:rPr>
              <a:t>arriesga</a:t>
            </a: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la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pérdida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de SRCDAT (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historial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de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fecha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por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línea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),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elemento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esencial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para la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auditoría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de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cambios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587" y="3009900"/>
            <a:ext cx="21907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9637" y="3009900"/>
            <a:ext cx="1428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6775" y="3009900"/>
            <a:ext cx="190500" cy="19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13520"/>
            <a:ext cx="5381625" cy="302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2489745"/>
            <a:ext cx="4905375" cy="781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4185195"/>
            <a:ext cx="4905375" cy="781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1900" y="3556545"/>
            <a:ext cx="279082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9637" y="428625"/>
            <a:ext cx="11282362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Outfit"/>
              </a:rPr>
              <a:t>Principio de Diseño: Colaboración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99020"/>
            <a:ext cx="271462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7725" y="2642145"/>
            <a:ext cx="5057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Conexión Directa y Segura: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Servidor MCP local que conecta a Claude Code / Agente Zero con iSeries mediante SSH/SFTP.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223170"/>
            <a:ext cx="5057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Colaborativo, no dueño de la lógica: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El MCP se encarga de la validación y orquestación liviana.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04195"/>
            <a:ext cx="5057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Delegación Eficiente: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El iSeries ejecuta las tareas complejas utilizando sus propios comandos nativos y tablas institucionales.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385220"/>
            <a:ext cx="50577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334155"/>
                </a:solidFill>
                <a:latin typeface="Plus Jakarta Sans"/>
              </a:rPr>
              <a:t>Cero Reimplementación: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El MCP delega en el iSeries toda lógica de negocio que este ya resuelve nativamente.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2275" y="2651670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2275" y="4347120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2665958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3246983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3828008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4409033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6100" y="2775495"/>
            <a:ext cx="20955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81875" y="2684561"/>
            <a:ext cx="2320290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0F172A"/>
                </a:solidFill>
                <a:latin typeface="Outfit"/>
              </a:rPr>
              <a:t>Claude Code / Agente 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1875" y="2890242"/>
            <a:ext cx="22098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Mente Pensante, Análisis e Inteligencia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3621" y="3666083"/>
            <a:ext cx="152400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96100" y="4470945"/>
            <a:ext cx="209550" cy="209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81875" y="4380011"/>
            <a:ext cx="2390298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1" i="0" u="none">
                <a:solidFill>
                  <a:srgbClr val="0F172A"/>
                </a:solidFill>
                <a:latin typeface="Outfit"/>
              </a:rPr>
              <a:t>IBM iSeries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1875" y="4585692"/>
            <a:ext cx="22764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Robustez, Cómputo y Ejecución Nativa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38647"/>
            <a:ext cx="3562350" cy="337884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2038647"/>
            <a:ext cx="3562350" cy="337884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775" y="2038647"/>
            <a:ext cx="3562350" cy="337884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261187"/>
            <a:ext cx="3048000" cy="10566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1062" y="424147"/>
            <a:ext cx="11310937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 err="1" smtClean="0">
                <a:solidFill>
                  <a:srgbClr val="0F172A"/>
                </a:solidFill>
                <a:latin typeface="Outfit"/>
              </a:rPr>
              <a:t>Componentes</a:t>
            </a:r>
            <a:r>
              <a:rPr lang="es-CL" sz="2550" b="1" i="0" u="none" dirty="0" smtClean="0">
                <a:solidFill>
                  <a:srgbClr val="0F172A"/>
                </a:solidFill>
                <a:latin typeface="Outfit"/>
              </a:rPr>
              <a:t> Colaborativos desarrollados por Zero para </a:t>
            </a:r>
            <a:r>
              <a:rPr sz="2550" b="1" i="0" u="none" dirty="0" err="1" smtClean="0">
                <a:solidFill>
                  <a:srgbClr val="0F172A"/>
                </a:solidFill>
                <a:latin typeface="Outfit"/>
              </a:rPr>
              <a:t>iSeries</a:t>
            </a:r>
            <a:endParaRPr sz="2550" b="1" i="0" u="none" dirty="0">
              <a:solidFill>
                <a:srgbClr val="0F172A"/>
              </a:solidFill>
              <a:latin typeface="Outfit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99020"/>
            <a:ext cx="242887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2295822"/>
            <a:ext cx="438150" cy="4381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1050" y="2886372"/>
            <a:ext cx="3200400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Outfit SemiBold"/>
              </a:rPr>
              <a:t>Biblioteca Compartida QGPL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179712"/>
            <a:ext cx="3048000" cy="2051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•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Programas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: </a:t>
            </a:r>
            <a:endParaRPr lang="es-CL" sz="1050" b="0" i="0" u="none" dirty="0" smtClean="0">
              <a:solidFill>
                <a:srgbClr val="64748B"/>
              </a:solidFill>
              <a:latin typeface="Plus Jakarta Sans"/>
            </a:endParaRPr>
          </a:p>
          <a:p>
            <a:pPr algn="l">
              <a:lnSpc>
                <a:spcPts val="1575"/>
              </a:lnSpc>
            </a:pP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CLAUDE_GET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 : trae un fuente</a:t>
            </a: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endParaRPr lang="es-CL" sz="1050" b="0" i="0" u="none" dirty="0" smtClean="0">
              <a:solidFill>
                <a:srgbClr val="64748B"/>
              </a:solidFill>
              <a:latin typeface="Plus Jakarta Sans"/>
            </a:endParaRPr>
          </a:p>
          <a:p>
            <a:pPr algn="l">
              <a:lnSpc>
                <a:spcPts val="1575"/>
              </a:lnSpc>
            </a:pP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CLAUDE_MER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: Actualiza Fuente</a:t>
            </a:r>
          </a:p>
          <a:p>
            <a:pPr algn="l">
              <a:lnSpc>
                <a:spcPts val="1575"/>
              </a:lnSpc>
            </a:pP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CLAUDEINV1/2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 : </a:t>
            </a:r>
            <a:r>
              <a:rPr lang="es-CL" sz="1050" b="0" i="0" u="none" dirty="0" err="1" smtClean="0">
                <a:solidFill>
                  <a:srgbClr val="64748B"/>
                </a:solidFill>
                <a:latin typeface="Plus Jakarta Sans"/>
              </a:rPr>
              <a:t>Investigacion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 (</a:t>
            </a:r>
            <a:r>
              <a:rPr lang="es-CL" sz="1050" b="0" i="0" u="none" dirty="0" err="1" smtClean="0">
                <a:solidFill>
                  <a:srgbClr val="64748B"/>
                </a:solidFill>
                <a:latin typeface="Plus Jakarta Sans"/>
              </a:rPr>
              <a:t>Buscaserie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)</a:t>
            </a:r>
            <a:r>
              <a:rPr dirty="0"/>
              <a:t>
</a:t>
            </a:r>
            <a:endParaRPr lang="es-CL" dirty="0" smtClean="0"/>
          </a:p>
          <a:p>
            <a:pPr algn="l">
              <a:lnSpc>
                <a:spcPts val="1575"/>
              </a:lnSpc>
            </a:pP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•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Tablas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: </a:t>
            </a:r>
            <a:endParaRPr lang="es-CL" sz="1050" b="0" i="0" u="none" dirty="0" smtClean="0">
              <a:solidFill>
                <a:srgbClr val="64748B"/>
              </a:solidFill>
              <a:latin typeface="Plus Jakarta Sans"/>
            </a:endParaRPr>
          </a:p>
          <a:p>
            <a:pPr algn="l">
              <a:lnSpc>
                <a:spcPts val="1575"/>
              </a:lnSpc>
            </a:pP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CLAUDEWLST 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(whitelist) </a:t>
            </a: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: Librerías disponibles para consulta y GET (inventario </a:t>
            </a:r>
            <a:r>
              <a:rPr lang="es-CL" sz="1050" b="0" i="0" u="none" dirty="0" err="1" smtClean="0">
                <a:solidFill>
                  <a:srgbClr val="64748B"/>
                </a:solidFill>
                <a:latin typeface="Plus Jakarta Sans"/>
              </a:rPr>
              <a:t>Aldon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).</a:t>
            </a:r>
          </a:p>
          <a:p>
            <a:pPr algn="l">
              <a:lnSpc>
                <a:spcPts val="1575"/>
              </a:lnSpc>
            </a:pP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CLAUDESKIP (</a:t>
            </a:r>
            <a:r>
              <a:rPr lang="es-CL" sz="1050" dirty="0" smtClean="0">
                <a:solidFill>
                  <a:srgbClr val="64748B"/>
                </a:solidFill>
                <a:latin typeface="Plus Jakarta Sans"/>
              </a:rPr>
              <a:t>Palabras</a:t>
            </a: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a</a:t>
            </a: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 smtClean="0">
                <a:solidFill>
                  <a:srgbClr val="64748B"/>
                </a:solidFill>
                <a:latin typeface="Plus Jakarta Sans"/>
              </a:rPr>
              <a:t>omitir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 en una búsqueda Investigativa, como por ejemplo CALL</a:t>
            </a: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)</a:t>
            </a:r>
            <a:endParaRPr sz="1050" b="0" i="0" u="none" dirty="0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2295822"/>
            <a:ext cx="438150" cy="4381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0" y="2886372"/>
            <a:ext cx="3200400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Outfit SemiBold"/>
              </a:rPr>
              <a:t>Biblioteca del Desarrollador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79712"/>
            <a:ext cx="3048000" cy="100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• Landing Zone: </a:t>
            </a:r>
            <a:endParaRPr lang="es-CL" sz="1050" b="0" i="0" u="none" dirty="0" smtClean="0">
              <a:solidFill>
                <a:srgbClr val="64748B"/>
              </a:solidFill>
              <a:latin typeface="Plus Jakarta Sans"/>
            </a:endParaRPr>
          </a:p>
          <a:p>
            <a:pPr algn="l">
              <a:lnSpc>
                <a:spcPts val="1575"/>
              </a:lnSpc>
            </a:pP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QCLAUDE 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(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almacena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PUTs sin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borrar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)</a:t>
            </a:r>
            <a:r>
              <a:rPr dirty="0"/>
              <a:t>
</a:t>
            </a:r>
            <a:endParaRPr lang="es-CL" dirty="0" smtClean="0"/>
          </a:p>
          <a:p>
            <a:pPr algn="l">
              <a:lnSpc>
                <a:spcPts val="1575"/>
              </a:lnSpc>
            </a:pP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• Solicitudes: QGETSOL, QMRGSOL</a:t>
            </a:r>
            <a:r>
              <a:rPr dirty="0"/>
              <a:t>
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•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Resultados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: QGETRES, QMRGRES, QINVRES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2950" y="2295822"/>
            <a:ext cx="438150" cy="4381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62950" y="2886372"/>
            <a:ext cx="3200400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Outfit SemiBold"/>
              </a:rPr>
              <a:t>Comandos Nativos Invocados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2950" y="3179712"/>
            <a:ext cx="3048000" cy="2051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•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Invocación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directa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 sin </a:t>
            </a:r>
            <a:r>
              <a:rPr sz="1050" b="0" i="0" u="none" dirty="0" err="1">
                <a:solidFill>
                  <a:srgbClr val="64748B"/>
                </a:solidFill>
                <a:latin typeface="Plus Jakarta Sans"/>
              </a:rPr>
              <a:t>reescritura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:</a:t>
            </a:r>
            <a:r>
              <a:rPr dirty="0"/>
              <a:t>
</a:t>
            </a:r>
            <a:endParaRPr lang="es-CL" dirty="0" smtClean="0"/>
          </a:p>
          <a:p>
            <a:pPr algn="l">
              <a:lnSpc>
                <a:spcPts val="1575"/>
              </a:lnSpc>
            </a:pP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MRGSRC </a:t>
            </a:r>
            <a:r>
              <a:rPr sz="1050" b="0" i="0" u="none" dirty="0">
                <a:solidFill>
                  <a:srgbClr val="64748B"/>
                </a:solidFill>
                <a:latin typeface="Plus Jakarta Sans"/>
              </a:rPr>
              <a:t>para merge </a:t>
            </a:r>
            <a:r>
              <a:rPr sz="1050" b="0" i="0" u="none" dirty="0" err="1" smtClean="0">
                <a:solidFill>
                  <a:srgbClr val="64748B"/>
                </a:solidFill>
                <a:latin typeface="Plus Jakarta Sans"/>
              </a:rPr>
              <a:t>segur</a:t>
            </a:r>
            <a:r>
              <a:rPr lang="es-CL" sz="1050" dirty="0" smtClean="0">
                <a:solidFill>
                  <a:srgbClr val="64748B"/>
                </a:solidFill>
                <a:latin typeface="Plus Jakarta Sans"/>
              </a:rPr>
              <a:t>o en la librería del desarrollador (debe existir </a:t>
            </a:r>
            <a:r>
              <a:rPr lang="es-CL" sz="1050" dirty="0" err="1" smtClean="0">
                <a:solidFill>
                  <a:srgbClr val="64748B"/>
                </a:solidFill>
                <a:latin typeface="Plus Jakarta Sans"/>
              </a:rPr>
              <a:t>CheckOut</a:t>
            </a:r>
            <a:r>
              <a:rPr lang="es-CL" sz="1050" dirty="0" smtClean="0">
                <a:solidFill>
                  <a:srgbClr val="64748B"/>
                </a:solidFill>
                <a:latin typeface="Plus Jakarta Sans"/>
              </a:rPr>
              <a:t> Previo por parte del DEV)</a:t>
            </a:r>
            <a:r>
              <a:rPr dirty="0"/>
              <a:t>
</a:t>
            </a:r>
            <a:endParaRPr lang="es-CL" dirty="0" smtClean="0"/>
          </a:p>
          <a:p>
            <a:pPr algn="l">
              <a:lnSpc>
                <a:spcPts val="1575"/>
              </a:lnSpc>
            </a:pP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FNDSTRPDM 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: </a:t>
            </a:r>
            <a:r>
              <a:rPr lang="es-CL" sz="1050" b="0" i="0" u="none" dirty="0" err="1" smtClean="0">
                <a:solidFill>
                  <a:srgbClr val="64748B"/>
                </a:solidFill>
                <a:latin typeface="Plus Jakarta Sans"/>
              </a:rPr>
              <a:t>Investigacion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 (</a:t>
            </a:r>
            <a:r>
              <a:rPr lang="es-CL" sz="1050" b="0" i="0" u="none" dirty="0" err="1" smtClean="0">
                <a:solidFill>
                  <a:srgbClr val="64748B"/>
                </a:solidFill>
                <a:latin typeface="Plus Jakarta Sans"/>
              </a:rPr>
              <a:t>Buscaserie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)</a:t>
            </a:r>
          </a:p>
          <a:p>
            <a:pPr algn="l">
              <a:lnSpc>
                <a:spcPts val="1575"/>
              </a:lnSpc>
            </a:pPr>
            <a:endParaRPr lang="es-CL" sz="1050" b="0" i="0" u="none" dirty="0" smtClean="0">
              <a:solidFill>
                <a:srgbClr val="64748B"/>
              </a:solidFill>
              <a:latin typeface="Plus Jakarta Sans"/>
            </a:endParaRPr>
          </a:p>
          <a:p>
            <a:pPr algn="l">
              <a:lnSpc>
                <a:spcPts val="1575"/>
              </a:lnSpc>
            </a:pP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C</a:t>
            </a:r>
            <a:r>
              <a:rPr sz="1050" b="0" i="0" u="none" dirty="0" err="1" smtClean="0">
                <a:solidFill>
                  <a:srgbClr val="64748B"/>
                </a:solidFill>
                <a:latin typeface="Plus Jakarta Sans"/>
              </a:rPr>
              <a:t>atálogo</a:t>
            </a:r>
            <a:r>
              <a:rPr sz="1050" b="0" i="0" u="none" dirty="0" smtClean="0">
                <a:solidFill>
                  <a:srgbClr val="64748B"/>
                </a:solidFill>
                <a:latin typeface="Plus Jakarta Sans"/>
              </a:rPr>
              <a:t> QADBXREF</a:t>
            </a:r>
            <a:r>
              <a:rPr lang="es-CL" sz="1050" b="0" i="0" u="none" dirty="0" smtClean="0">
                <a:solidFill>
                  <a:srgbClr val="64748B"/>
                </a:solidFill>
                <a:latin typeface="Plus Jakarta Sans"/>
              </a:rPr>
              <a:t> para consultar Fuentes y su ubicación exacta</a:t>
            </a:r>
            <a:endParaRPr sz="1050" b="0" i="0" u="none" dirty="0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2419647"/>
            <a:ext cx="17145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2012" y="2419647"/>
            <a:ext cx="2381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2487" y="2419647"/>
            <a:ext cx="219075" cy="19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299245"/>
            <a:ext cx="1114425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1062" y="428625"/>
            <a:ext cx="11310937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Outfit"/>
              </a:rPr>
              <a:t>Las 5 Tools del Servidor MCP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99020"/>
            <a:ext cx="242887" cy="2476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015296"/>
              </p:ext>
            </p:extLst>
          </p:nvPr>
        </p:nvGraphicFramePr>
        <p:xfrm>
          <a:off x="533400" y="2308770"/>
          <a:ext cx="11125199" cy="2838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1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3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Outfit SemiBold"/>
                        </a:rPr>
                        <a:t>Tool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Función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Mecanismo de Acción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iseries_solicitar_fuentes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Ubicación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de </a:t>
                      </a:r>
                      <a:r>
                        <a:rPr lang="es-CL" sz="1050" b="0" i="0" u="none" dirty="0" smtClean="0">
                          <a:solidFill>
                            <a:srgbClr val="334155"/>
                          </a:solidFill>
                          <a:latin typeface="Plus Jakarta Sans"/>
                        </a:rPr>
                        <a:t>Fuentes</a:t>
                      </a:r>
                      <a:r>
                        <a:rPr sz="1050" b="0" i="0" u="none" dirty="0" smtClean="0">
                          <a:solidFill>
                            <a:srgbClr val="334155"/>
                          </a:solidFill>
                          <a:latin typeface="Plus Jakarta Sans"/>
                        </a:rPr>
                        <a:t>s</a:t>
                      </a:r>
                      <a:endParaRPr sz="1050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Resuelve archivo, biblioteca y tipo de fuente solo con el nombre.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iseries_descargar_fuentes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Descarga Directa (GET)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Trae el fuente real y decodifica EBCDIC a UTF-8 localmente.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iseries_subir_fuentes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Carga Segura (PUT)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Sube a QCLAUDE (landing zone), nunca al destino real.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iseries_merge_fuentes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Reubicación y Merge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Reubica vía MRGSRC preservando el historial SRCDAT.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iseries_investigar_fuentes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Búsqueda Inteligente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Busca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cadenas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en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fuentes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</a:t>
                      </a:r>
                      <a:r>
                        <a:rPr lang="es-CL" sz="1050" b="0" i="0" u="none" dirty="0" smtClean="0">
                          <a:solidFill>
                            <a:srgbClr val="334155"/>
                          </a:solidFill>
                          <a:latin typeface="Plus Jakarta Sans"/>
                        </a:rPr>
                        <a:t>de </a:t>
                      </a:r>
                      <a:r>
                        <a:rPr lang="es-CL" sz="1050" b="0" i="0" u="none" dirty="0" err="1" smtClean="0">
                          <a:solidFill>
                            <a:srgbClr val="334155"/>
                          </a:solidFill>
                          <a:latin typeface="Plus Jakarta Sans"/>
                        </a:rPr>
                        <a:t>Iseries</a:t>
                      </a:r>
                      <a:r>
                        <a:rPr lang="es-CL" sz="1050" b="0" i="0" u="none" dirty="0" smtClean="0">
                          <a:solidFill>
                            <a:srgbClr val="334155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0" i="0" u="none" dirty="0" smtClean="0">
                          <a:solidFill>
                            <a:srgbClr val="334155"/>
                          </a:solidFill>
                          <a:latin typeface="Plus Jakarta Sans"/>
                        </a:rPr>
                        <a:t>sin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descargar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contenido</a:t>
                      </a:r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3400" y="3237458"/>
            <a:ext cx="31506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84091" y="3237458"/>
            <a:ext cx="2361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45398" y="3237458"/>
            <a:ext cx="56132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3713708"/>
            <a:ext cx="31506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84091" y="3713708"/>
            <a:ext cx="2361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45398" y="3713708"/>
            <a:ext cx="56132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4189958"/>
            <a:ext cx="31506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84091" y="4189958"/>
            <a:ext cx="2361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45398" y="4189958"/>
            <a:ext cx="56132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4666208"/>
            <a:ext cx="31506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84091" y="4666208"/>
            <a:ext cx="2361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45398" y="4666208"/>
            <a:ext cx="56132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918370"/>
            <a:ext cx="2010221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3394620"/>
            <a:ext cx="2010221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3870870"/>
            <a:ext cx="1712862" cy="2190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4347120"/>
            <a:ext cx="1712862" cy="2190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4823370"/>
            <a:ext cx="2084486" cy="219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409229"/>
            <a:ext cx="5381625" cy="11473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727995"/>
            <a:ext cx="5381625" cy="11473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671613"/>
            <a:ext cx="5381625" cy="21126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1062" y="428625"/>
            <a:ext cx="11310937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Outfit"/>
              </a:rPr>
              <a:t>Evidencia Real: Colaborativo y Eficiente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99020"/>
            <a:ext cx="242887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9175" y="2628304"/>
            <a:ext cx="4900612" cy="213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84"/>
              </a:lnSpc>
            </a:pPr>
            <a:r>
              <a:rPr sz="1404" b="1" i="0" u="none">
                <a:solidFill>
                  <a:srgbClr val="166534"/>
                </a:solidFill>
                <a:latin typeface="Outfit"/>
              </a:rPr>
              <a:t>Búsqueda Ejecutada ("PACSER")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899320"/>
            <a:ext cx="49434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Retorna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5 coincidencias reales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mediante la ejecución optimizada de FNDSTRPDM en el iSeries.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3947070"/>
            <a:ext cx="4880610" cy="213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84"/>
              </a:lnSpc>
            </a:pPr>
            <a:r>
              <a:rPr sz="1404" b="1" i="0" u="none" dirty="0" err="1">
                <a:solidFill>
                  <a:srgbClr val="991B1B"/>
                </a:solidFill>
                <a:latin typeface="Outfit"/>
              </a:rPr>
              <a:t>Rechazo</a:t>
            </a:r>
            <a:r>
              <a:rPr sz="1404" b="1" i="0" u="none" dirty="0">
                <a:solidFill>
                  <a:srgbClr val="991B1B"/>
                </a:solidFill>
                <a:latin typeface="Outfit"/>
              </a:rPr>
              <a:t> </a:t>
            </a:r>
            <a:r>
              <a:rPr sz="1404" b="1" i="0" u="none" dirty="0" err="1">
                <a:solidFill>
                  <a:srgbClr val="991B1B"/>
                </a:solidFill>
                <a:latin typeface="Outfit"/>
              </a:rPr>
              <a:t>Instantáneo</a:t>
            </a:r>
            <a:r>
              <a:rPr sz="1404" b="1" i="0" u="none" dirty="0">
                <a:solidFill>
                  <a:srgbClr val="991B1B"/>
                </a:solidFill>
                <a:latin typeface="Outfit"/>
              </a:rPr>
              <a:t> ("CALL")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4218086"/>
            <a:ext cx="49434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Filtro inmediato guiado por la tabla CLAUDESKIP en iSeries,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evitando correr la búsqueda pesada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2928788"/>
            <a:ext cx="438150" cy="4381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43675" y="3519338"/>
            <a:ext cx="5110638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 dirty="0">
                <a:solidFill>
                  <a:srgbClr val="0F172A"/>
                </a:solidFill>
                <a:latin typeface="Outfit SemiBold"/>
              </a:rPr>
              <a:t>Cero </a:t>
            </a:r>
            <a:r>
              <a:rPr sz="1425" b="0" i="0" u="none" dirty="0" err="1">
                <a:solidFill>
                  <a:srgbClr val="0F172A"/>
                </a:solidFill>
                <a:latin typeface="Outfit SemiBold"/>
              </a:rPr>
              <a:t>Carga</a:t>
            </a:r>
            <a:r>
              <a:rPr sz="1425" b="0" i="0" u="none" dirty="0">
                <a:solidFill>
                  <a:srgbClr val="0F172A"/>
                </a:solidFill>
                <a:latin typeface="Outfit SemiBold"/>
              </a:rPr>
              <a:t> </a:t>
            </a:r>
            <a:r>
              <a:rPr sz="1425" b="0" i="0" u="none" dirty="0" err="1">
                <a:solidFill>
                  <a:srgbClr val="0F172A"/>
                </a:solidFill>
                <a:latin typeface="Outfit SemiBold"/>
              </a:rPr>
              <a:t>Innecesaria</a:t>
            </a:r>
            <a:endParaRPr sz="1425" b="0" i="0" u="none" dirty="0">
              <a:solidFill>
                <a:srgbClr val="0F172A"/>
              </a:solidFill>
              <a:latin typeface="Outfit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43675" y="3812678"/>
            <a:ext cx="48672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El MCP nunca vio ni procesó la lógica del rechazo — únicamente recibió el resultado filtrado desde iSeries.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4327028"/>
            <a:ext cx="48672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0284C7"/>
                </a:solidFill>
                <a:latin typeface="Plus Jakarta Sans SemiBold"/>
              </a:rPr>
              <a:t>Demuestra el principio de delegación inteligente de cómputo.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2646015"/>
            <a:ext cx="180975" cy="178296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3964781"/>
            <a:ext cx="200025" cy="178296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7025" y="3052613"/>
            <a:ext cx="171450" cy="19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528887"/>
            <a:ext cx="3562350" cy="23983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2528887"/>
            <a:ext cx="3562350" cy="23983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775" y="2528887"/>
            <a:ext cx="3562350" cy="2398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9637" y="428625"/>
            <a:ext cx="11282362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Outfit"/>
              </a:rPr>
              <a:t>Integración con Skills de Claude Code / Zero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99020"/>
            <a:ext cx="271462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2786062"/>
            <a:ext cx="438150" cy="438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050" y="3376612"/>
            <a:ext cx="3200400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Outfit SemiBold"/>
              </a:rPr>
              <a:t>3 Skills Integrados al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669952"/>
            <a:ext cx="30480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64748B"/>
                </a:solidFill>
                <a:latin typeface="Plus Jakarta Sans"/>
              </a:rPr>
              <a:t>solicitar-fuente-iseries: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 Trae fuentes (GET).</a:t>
            </a:r>
            <a:r>
              <a:t>
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64748B"/>
                </a:solidFill>
                <a:latin typeface="Plus Jakarta Sans"/>
              </a:rPr>
              <a:t>publicar-fuente-iseries: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 Sube y reubica (PUT + MERGE).</a:t>
            </a:r>
            <a:r>
              <a:t>
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64748B"/>
                </a:solidFill>
                <a:latin typeface="Plus Jakarta Sans"/>
              </a:rPr>
              <a:t>investigar-iseries: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 Búsqueda y filtrado funcional.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2786062"/>
            <a:ext cx="438150" cy="438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3376612"/>
            <a:ext cx="3200400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Outfit SemiBold"/>
              </a:rPr>
              <a:t>14 Skills Complementarios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69952"/>
            <a:ext cx="3048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Especializados en construcción por tipo de fuente, conversión a Procedimientos Almacenados, calidad, pruebas y gobierno de proyectos.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950" y="2786062"/>
            <a:ext cx="438150" cy="4381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62950" y="3376612"/>
            <a:ext cx="3200400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Outfit SemiBold"/>
              </a:rPr>
              <a:t>Independencia Operativa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2950" y="3669952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Los 14 skills adicionales operan de forma autónoma sin depender de la infraestructura del servidor MCP.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062" y="2909887"/>
            <a:ext cx="2381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1537" y="2909887"/>
            <a:ext cx="2190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6775" y="2909887"/>
            <a:ext cx="190500" cy="19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1062" y="424147"/>
            <a:ext cx="11310937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 dirty="0" err="1">
                <a:solidFill>
                  <a:srgbClr val="0F172A"/>
                </a:solidFill>
                <a:latin typeface="Outfit"/>
              </a:rPr>
              <a:t>Optimizaciones</a:t>
            </a:r>
            <a:r>
              <a:rPr sz="2550" b="1" i="0" u="none" dirty="0">
                <a:solidFill>
                  <a:srgbClr val="0F172A"/>
                </a:solidFill>
                <a:latin typeface="Outfit"/>
              </a:rPr>
              <a:t> y </a:t>
            </a:r>
            <a:r>
              <a:rPr sz="2550" b="1" i="0" u="none" dirty="0" err="1" smtClean="0">
                <a:solidFill>
                  <a:srgbClr val="0F172A"/>
                </a:solidFill>
                <a:latin typeface="Outfit"/>
              </a:rPr>
              <a:t>Controles</a:t>
            </a:r>
            <a:r>
              <a:rPr lang="es-CL" sz="2550" b="1" i="0" u="none" dirty="0" smtClean="0">
                <a:solidFill>
                  <a:srgbClr val="0F172A"/>
                </a:solidFill>
                <a:latin typeface="Outfit"/>
              </a:rPr>
              <a:t> IA</a:t>
            </a:r>
            <a:endParaRPr sz="2550" b="1" i="0" u="none" dirty="0">
              <a:solidFill>
                <a:srgbClr val="0F172A"/>
              </a:solidFill>
              <a:latin typeface="Outfit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99020"/>
            <a:ext cx="242887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18" y="1730673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253" y="1703028"/>
            <a:ext cx="171450" cy="190500"/>
          </a:xfrm>
          <a:prstGeom prst="rect">
            <a:avLst/>
          </a:prstGeom>
        </p:spPr>
      </p:pic>
      <p:grpSp>
        <p:nvGrpSpPr>
          <p:cNvPr id="24" name="Grupo 23"/>
          <p:cNvGrpSpPr/>
          <p:nvPr/>
        </p:nvGrpSpPr>
        <p:grpSpPr>
          <a:xfrm>
            <a:off x="523875" y="1685429"/>
            <a:ext cx="11413331" cy="1338262"/>
            <a:chOff x="523875" y="3058864"/>
            <a:chExt cx="11413331" cy="1338262"/>
          </a:xfrm>
        </p:grpSpPr>
        <p:sp>
          <p:nvSpPr>
            <p:cNvPr id="6" name="TextBox 5"/>
            <p:cNvSpPr txBox="1"/>
            <p:nvPr/>
          </p:nvSpPr>
          <p:spPr>
            <a:xfrm>
              <a:off x="523875" y="3068389"/>
              <a:ext cx="5650706" cy="228600"/>
            </a:xfrm>
            <a:prstGeom prst="rect">
              <a:avLst/>
            </a:prstGeom>
            <a:noFill/>
          </p:spPr>
          <p:txBody>
            <a:bodyPr wrap="square" lIns="19050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1500" b="1" i="0" u="none" dirty="0" err="1">
                  <a:solidFill>
                    <a:srgbClr val="0284C7"/>
                  </a:solidFill>
                  <a:latin typeface="Outfit"/>
                </a:rPr>
                <a:t>Gestión</a:t>
              </a:r>
              <a:r>
                <a:rPr sz="1500" b="1" i="0" u="none" dirty="0">
                  <a:solidFill>
                    <a:srgbClr val="0284C7"/>
                  </a:solidFill>
                  <a:latin typeface="Outfit"/>
                </a:rPr>
                <a:t> de </a:t>
              </a:r>
              <a:r>
                <a:rPr sz="1500" b="1" i="0" u="none" dirty="0" err="1">
                  <a:solidFill>
                    <a:srgbClr val="0284C7"/>
                  </a:solidFill>
                  <a:latin typeface="Outfit"/>
                </a:rPr>
                <a:t>Contexto</a:t>
              </a:r>
              <a:endParaRPr sz="1500" b="1" i="0" u="none" dirty="0">
                <a:solidFill>
                  <a:srgbClr val="0284C7"/>
                </a:solidFill>
                <a:latin typeface="Outfit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286500" y="3058864"/>
              <a:ext cx="5650706" cy="228600"/>
            </a:xfrm>
            <a:prstGeom prst="rect">
              <a:avLst/>
            </a:prstGeom>
            <a:noFill/>
          </p:spPr>
          <p:txBody>
            <a:bodyPr wrap="square" lIns="17145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1500" b="1" i="0" u="none">
                  <a:solidFill>
                    <a:srgbClr val="0D9488"/>
                  </a:solidFill>
                  <a:latin typeface="Outfit"/>
                </a:rPr>
                <a:t>Controles de Seguridad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47725" y="3430339"/>
              <a:ext cx="5057775" cy="2238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125" b="0" i="0" u="none" dirty="0" err="1">
                  <a:solidFill>
                    <a:srgbClr val="334155"/>
                  </a:solidFill>
                  <a:latin typeface="Plus Jakarta Sans"/>
                </a:rPr>
                <a:t>Contexto</a:t>
              </a: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1125" b="0" i="0" u="none" dirty="0" err="1">
                  <a:solidFill>
                    <a:srgbClr val="334155"/>
                  </a:solidFill>
                  <a:latin typeface="Plus Jakarta Sans"/>
                </a:rPr>
                <a:t>fijo</a:t>
              </a: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1125" b="0" i="0" u="none" dirty="0" err="1">
                  <a:solidFill>
                    <a:srgbClr val="334155"/>
                  </a:solidFill>
                  <a:latin typeface="Plus Jakarta Sans"/>
                </a:rPr>
                <a:t>mínimo</a:t>
              </a: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: CLAUDE.md (137 l) + MEMORY.md (87 l).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47725" y="3806576"/>
              <a:ext cx="5057775" cy="214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125" b="0" i="0" u="none" dirty="0" err="1">
                  <a:solidFill>
                    <a:srgbClr val="334155"/>
                  </a:solidFill>
                  <a:latin typeface="Plus Jakarta Sans"/>
                </a:rPr>
                <a:t>Carga</a:t>
              </a: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 a </a:t>
              </a:r>
              <a:r>
                <a:rPr sz="1125" b="0" i="0" u="none" dirty="0" err="1">
                  <a:solidFill>
                    <a:srgbClr val="334155"/>
                  </a:solidFill>
                  <a:latin typeface="Plus Jakarta Sans"/>
                </a:rPr>
                <a:t>demanda</a:t>
              </a: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 para </a:t>
              </a:r>
              <a:r>
                <a:rPr sz="1125" b="0" i="0" u="none" dirty="0" err="1">
                  <a:solidFill>
                    <a:srgbClr val="334155"/>
                  </a:solidFill>
                  <a:latin typeface="Plus Jakarta Sans"/>
                </a:rPr>
                <a:t>los</a:t>
              </a: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 43 tips y 17 skills </a:t>
              </a:r>
              <a:r>
                <a:rPr sz="1125" b="0" i="0" u="none" dirty="0" err="1">
                  <a:solidFill>
                    <a:srgbClr val="334155"/>
                  </a:solidFill>
                  <a:latin typeface="Plus Jakarta Sans"/>
                </a:rPr>
                <a:t>completos</a:t>
              </a: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47725" y="4173289"/>
              <a:ext cx="5057775" cy="214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Hook de enforcement (6 </a:t>
              </a:r>
              <a:r>
                <a:rPr sz="1125" b="0" i="0" u="none" dirty="0" err="1">
                  <a:solidFill>
                    <a:srgbClr val="334155"/>
                  </a:solidFill>
                  <a:latin typeface="Plus Jakarta Sans"/>
                </a:rPr>
                <a:t>políticas</a:t>
              </a: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) </a:t>
              </a:r>
              <a:r>
                <a:rPr sz="1125" b="0" i="0" u="none" dirty="0" err="1">
                  <a:solidFill>
                    <a:srgbClr val="334155"/>
                  </a:solidFill>
                  <a:latin typeface="Plus Jakarta Sans"/>
                </a:rPr>
                <a:t>corre</a:t>
              </a: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sz="1125" b="0" i="0" u="none" dirty="0" err="1">
                  <a:solidFill>
                    <a:srgbClr val="334155"/>
                  </a:solidFill>
                  <a:latin typeface="Plus Jakarta Sans"/>
                </a:rPr>
                <a:t>fuera</a:t>
              </a: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 del prompt a </a:t>
              </a:r>
              <a:r>
                <a:rPr sz="1125" b="0" i="0" u="none" dirty="0" err="1">
                  <a:solidFill>
                    <a:srgbClr val="334155"/>
                  </a:solidFill>
                  <a:latin typeface="Plus Jakarta Sans"/>
                </a:rPr>
                <a:t>costo</a:t>
              </a:r>
              <a:r>
                <a:rPr sz="1125" b="0" i="0" u="none" dirty="0">
                  <a:solidFill>
                    <a:srgbClr val="334155"/>
                  </a:solidFill>
                  <a:latin typeface="Plus Jakarta Sans"/>
                </a:rPr>
                <a:t> cero.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610350" y="3420814"/>
              <a:ext cx="5057775" cy="2238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125" b="0" i="0" u="none">
                  <a:solidFill>
                    <a:srgbClr val="334155"/>
                  </a:solidFill>
                  <a:latin typeface="Plus Jakarta Sans"/>
                </a:rPr>
                <a:t>iseries_merge_fuentes escribe solo en biblioteca propia.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10350" y="3797051"/>
              <a:ext cx="5057775" cy="2238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125" b="0" i="0" u="none">
                  <a:solidFill>
                    <a:srgbClr val="334155"/>
                  </a:solidFill>
                  <a:latin typeface="Plus Jakarta Sans"/>
                </a:rPr>
                <a:t>Credenciales fuera de repositorio (sin datos en .env).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10350" y="4173289"/>
              <a:ext cx="5057775" cy="22383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125" b="0" i="0" u="none">
                  <a:solidFill>
                    <a:srgbClr val="334155"/>
                  </a:solidFill>
                  <a:latin typeface="Plus Jakarta Sans"/>
                </a:rPr>
                <a:t>QCLAUDE mantiene auditoría completa de cambios.</a:t>
              </a:r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875" y="3454151"/>
              <a:ext cx="152400" cy="180975"/>
            </a:xfrm>
            <a:prstGeom prst="rect">
              <a:avLst/>
            </a:prstGeom>
          </p:spPr>
        </p:pic>
        <p:pic>
          <p:nvPicPr>
            <p:cNvPr id="17" name="Picture 16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875" y="3830389"/>
              <a:ext cx="152400" cy="180975"/>
            </a:xfrm>
            <a:prstGeom prst="rect">
              <a:avLst/>
            </a:prstGeom>
          </p:spPr>
        </p:pic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3875" y="4197101"/>
              <a:ext cx="152400" cy="180975"/>
            </a:xfrm>
            <a:prstGeom prst="rect">
              <a:avLst/>
            </a:prstGeom>
          </p:spPr>
        </p:pic>
        <p:pic>
          <p:nvPicPr>
            <p:cNvPr id="19" name="Picture 18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86500" y="3444626"/>
              <a:ext cx="152400" cy="180975"/>
            </a:xfrm>
            <a:prstGeom prst="rect">
              <a:avLst/>
            </a:prstGeom>
          </p:spPr>
        </p:pic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86500" y="3820864"/>
              <a:ext cx="152400" cy="180975"/>
            </a:xfrm>
            <a:prstGeom prst="rect">
              <a:avLst/>
            </a:prstGeom>
          </p:spPr>
        </p:pic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86500" y="4197101"/>
              <a:ext cx="152400" cy="180975"/>
            </a:xfrm>
            <a:prstGeom prst="rect">
              <a:avLst/>
            </a:prstGeom>
          </p:spPr>
        </p:pic>
      </p:grpSp>
      <p:sp>
        <p:nvSpPr>
          <p:cNvPr id="22" name="Rectángulo 21"/>
          <p:cNvSpPr/>
          <p:nvPr/>
        </p:nvSpPr>
        <p:spPr>
          <a:xfrm>
            <a:off x="523875" y="3583806"/>
            <a:ext cx="6981455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87"/>
              </a:lnSpc>
            </a:pPr>
            <a:r>
              <a:rPr lang="es-CL" sz="1125" dirty="0">
                <a:solidFill>
                  <a:srgbClr val="334155"/>
                </a:solidFill>
                <a:latin typeface="Plus Jakarta Sans"/>
              </a:rPr>
              <a:t>Un </a:t>
            </a:r>
            <a:r>
              <a:rPr lang="es-CL" sz="1125" dirty="0" err="1">
                <a:solidFill>
                  <a:srgbClr val="334155"/>
                </a:solidFill>
                <a:latin typeface="Plus Jakarta Sans"/>
              </a:rPr>
              <a:t>hook</a:t>
            </a:r>
            <a:r>
              <a:rPr lang="es-CL" sz="1125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s-CL" sz="1125" dirty="0" smtClean="0">
                <a:solidFill>
                  <a:srgbClr val="334155"/>
                </a:solidFill>
                <a:latin typeface="Plus Jakarta Sans"/>
              </a:rPr>
              <a:t>(validar-fuente-</a:t>
            </a:r>
            <a:r>
              <a:rPr lang="es-CL" sz="1125" dirty="0" err="1" smtClean="0">
                <a:solidFill>
                  <a:srgbClr val="334155"/>
                </a:solidFill>
                <a:latin typeface="Plus Jakarta Sans"/>
              </a:rPr>
              <a:t>iseries.mjs</a:t>
            </a:r>
            <a:r>
              <a:rPr lang="es-CL" sz="1125" dirty="0">
                <a:solidFill>
                  <a:srgbClr val="334155"/>
                </a:solidFill>
                <a:latin typeface="Plus Jakarta Sans"/>
              </a:rPr>
              <a:t>) mecanismo de programación dentro de los agentes de IA. (</a:t>
            </a:r>
            <a:r>
              <a:rPr lang="es-CL" sz="1125" dirty="0" err="1">
                <a:solidFill>
                  <a:srgbClr val="334155"/>
                </a:solidFill>
                <a:latin typeface="Plus Jakarta Sans"/>
              </a:rPr>
              <a:t>Trigger</a:t>
            </a:r>
            <a:r>
              <a:rPr lang="es-CL" sz="1125" dirty="0">
                <a:solidFill>
                  <a:srgbClr val="334155"/>
                </a:solidFill>
                <a:latin typeface="Plus Jakarta Sans"/>
              </a:rPr>
              <a:t>) </a:t>
            </a:r>
          </a:p>
        </p:txBody>
      </p:sp>
      <p:graphicFrame>
        <p:nvGraphicFramePr>
          <p:cNvPr id="23" name="Tabla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187452"/>
              </p:ext>
            </p:extLst>
          </p:nvPr>
        </p:nvGraphicFramePr>
        <p:xfrm>
          <a:off x="523875" y="4013213"/>
          <a:ext cx="4533899" cy="2076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575">
                  <a:extLst>
                    <a:ext uri="{9D8B030D-6E8A-4147-A177-3AD203B41FA5}">
                      <a16:colId xmlns:a16="http://schemas.microsoft.com/office/drawing/2014/main" val="651526551"/>
                    </a:ext>
                  </a:extLst>
                </a:gridCol>
                <a:gridCol w="2233682">
                  <a:extLst>
                    <a:ext uri="{9D8B030D-6E8A-4147-A177-3AD203B41FA5}">
                      <a16:colId xmlns:a16="http://schemas.microsoft.com/office/drawing/2014/main" val="4097804473"/>
                    </a:ext>
                  </a:extLst>
                </a:gridCol>
                <a:gridCol w="2157642">
                  <a:extLst>
                    <a:ext uri="{9D8B030D-6E8A-4147-A177-3AD203B41FA5}">
                      <a16:colId xmlns:a16="http://schemas.microsoft.com/office/drawing/2014/main" val="207699825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u="none" strike="noStrike">
                          <a:effectLst/>
                        </a:rPr>
                        <a:t>#</a:t>
                      </a:r>
                      <a:endParaRPr lang="es-CL" sz="1000" b="1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u="none" strike="noStrike">
                          <a:effectLst/>
                        </a:rPr>
                        <a:t>Regla</a:t>
                      </a:r>
                      <a:endParaRPr lang="es-CL" sz="1000" b="1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L" sz="1000" u="none" strike="noStrike">
                          <a:effectLst/>
                        </a:rPr>
                        <a:t>Alcance</a:t>
                      </a:r>
                      <a:endParaRPr lang="es-CL" sz="1000" b="1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0474816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r" fontAlgn="ctr"/>
                      <a:r>
                        <a:rPr lang="es-CL" sz="1000" u="none" strike="noStrike">
                          <a:effectLst/>
                        </a:rPr>
                        <a:t>1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000" u="none" strike="noStrike">
                          <a:effectLst/>
                        </a:rPr>
                        <a:t>Nada de </a:t>
                      </a:r>
                      <a:r>
                        <a:rPr lang="es-CL" sz="990" u="none" strike="noStrike">
                          <a:effectLst/>
                        </a:rPr>
                        <a:t>.docx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000" u="none" strike="noStrike" dirty="0">
                          <a:effectLst/>
                        </a:rPr>
                        <a:t>cualquier ruta — bloqueo </a:t>
                      </a:r>
                      <a:r>
                        <a:rPr lang="es-CL" sz="1000" u="none" strike="noStrike" dirty="0" smtClean="0">
                          <a:effectLst/>
                        </a:rPr>
                        <a:t>inmediato</a:t>
                      </a:r>
                      <a:endParaRPr lang="es-CL" sz="1000" b="0" i="0" u="none" strike="noStrike" dirty="0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39407279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r" fontAlgn="ctr"/>
                      <a:r>
                        <a:rPr lang="es-CL" sz="1000" u="none" strike="noStrike">
                          <a:effectLst/>
                        </a:rPr>
                        <a:t>2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000" u="none" strike="noStrike" dirty="0" smtClean="0">
                          <a:effectLst/>
                        </a:rPr>
                        <a:t>Nada de Credenciales </a:t>
                      </a:r>
                      <a:r>
                        <a:rPr lang="es-CL" sz="1000" u="none" strike="noStrike" dirty="0">
                          <a:effectLst/>
                        </a:rPr>
                        <a:t>literales</a:t>
                      </a:r>
                      <a:endParaRPr lang="es-CL" sz="1000" b="0" i="0" u="none" strike="noStrike" dirty="0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000" u="none" strike="noStrike">
                          <a:effectLst/>
                        </a:rPr>
                        <a:t>fuentes + config (</a:t>
                      </a:r>
                      <a:r>
                        <a:rPr lang="es-CL" sz="990" u="none" strike="noStrike">
                          <a:effectLst/>
                        </a:rPr>
                        <a:t>.json .env .mjs .js .ts .yml .ini</a:t>
                      </a:r>
                      <a:r>
                        <a:rPr lang="es-CL" sz="1000" u="none" strike="noStrike">
                          <a:effectLst/>
                        </a:rPr>
                        <a:t>…)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0440245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r" fontAlgn="ctr"/>
                      <a:r>
                        <a:rPr lang="es-CL" sz="1000" u="none" strike="noStrike">
                          <a:effectLst/>
                        </a:rPr>
                        <a:t>3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000" u="none" strike="noStrike">
                          <a:effectLst/>
                        </a:rPr>
                        <a:t>Sin acentos ni ñ (rango Latin-1)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000" u="none" strike="noStrike">
                          <a:effectLst/>
                        </a:rPr>
                        <a:t>fuentes: </a:t>
                      </a:r>
                      <a:r>
                        <a:rPr lang="es-CL" sz="990" u="none" strike="noStrike">
                          <a:effectLst/>
                        </a:rPr>
                        <a:t>.rpg .rpgle .sqlrpgle .dds .clp .cbl .sql .bnd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5471839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ctr"/>
                      <a:r>
                        <a:rPr lang="es-CL" sz="1000" u="none" strike="noStrike">
                          <a:effectLst/>
                        </a:rPr>
                        <a:t>4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990" u="none" strike="noStrike" dirty="0">
                          <a:effectLst/>
                        </a:rPr>
                        <a:t>VARCHAR</a:t>
                      </a:r>
                      <a:r>
                        <a:rPr lang="es-CL" sz="1000" u="none" strike="noStrike" dirty="0">
                          <a:effectLst/>
                        </a:rPr>
                        <a:t> prohibido</a:t>
                      </a:r>
                      <a:endParaRPr lang="es-CL" sz="990" b="0" i="0" u="none" strike="noStrike" dirty="0">
                        <a:solidFill>
                          <a:srgbClr val="D7BA7D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000" u="none" strike="noStrike" dirty="0">
                          <a:effectLst/>
                        </a:rPr>
                        <a:t>solo </a:t>
                      </a:r>
                      <a:r>
                        <a:rPr lang="es-CL" sz="1000" u="none" strike="noStrike" dirty="0" smtClean="0">
                          <a:effectLst/>
                        </a:rPr>
                        <a:t>aplica a</a:t>
                      </a:r>
                      <a:r>
                        <a:rPr lang="es-CL" sz="990" u="none" strike="noStrike" dirty="0" smtClean="0">
                          <a:effectLst/>
                        </a:rPr>
                        <a:t> </a:t>
                      </a:r>
                      <a:r>
                        <a:rPr lang="es-CL" sz="990" u="none" strike="noStrike" dirty="0" err="1" smtClean="0">
                          <a:effectLst/>
                        </a:rPr>
                        <a:t>sql</a:t>
                      </a:r>
                      <a:r>
                        <a:rPr lang="es-CL" sz="1000" u="none" strike="noStrike" dirty="0">
                          <a:effectLst/>
                        </a:rPr>
                        <a:t> </a:t>
                      </a:r>
                      <a:r>
                        <a:rPr lang="es-CL" sz="1000" u="none" strike="noStrike" dirty="0" smtClean="0">
                          <a:effectLst/>
                        </a:rPr>
                        <a:t>(PA</a:t>
                      </a:r>
                      <a:r>
                        <a:rPr lang="es-CL" sz="1000" u="none" strike="noStrike" dirty="0">
                          <a:effectLst/>
                        </a:rPr>
                        <a:t>)</a:t>
                      </a:r>
                      <a:endParaRPr lang="es-CL" sz="1000" b="0" i="0" u="none" strike="noStrike" dirty="0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824958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ctr"/>
                      <a:r>
                        <a:rPr lang="es-CL" sz="1000" u="none" strike="noStrike">
                          <a:effectLst/>
                        </a:rPr>
                        <a:t>5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000" u="none" strike="noStrike">
                          <a:effectLst/>
                        </a:rPr>
                        <a:t>Máximo 80 columnas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000" u="none" strike="noStrike" dirty="0">
                          <a:effectLst/>
                        </a:rPr>
                        <a:t> </a:t>
                      </a:r>
                      <a:endParaRPr lang="es-CL" sz="1000" b="0" i="0" u="none" strike="noStrike" dirty="0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055804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ctr"/>
                      <a:r>
                        <a:rPr lang="es-CL" sz="1000" u="none" strike="noStrike">
                          <a:effectLst/>
                        </a:rPr>
                        <a:t>6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000" u="none" strike="noStrike">
                          <a:effectLst/>
                        </a:rPr>
                        <a:t>Glosa de colaboración con IA</a:t>
                      </a:r>
                      <a:endParaRPr lang="es-CL" sz="1000" b="0" i="0" u="none" strike="noStrike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CL" sz="1000" u="none" strike="noStrike" dirty="0">
                          <a:effectLst/>
                        </a:rPr>
                        <a:t>fuentes, solo en </a:t>
                      </a:r>
                      <a:r>
                        <a:rPr lang="es-CL" sz="990" u="none" strike="noStrike" dirty="0" err="1">
                          <a:effectLst/>
                        </a:rPr>
                        <a:t>Write</a:t>
                      </a:r>
                      <a:endParaRPr lang="es-CL" sz="1000" b="0" i="0" u="none" strike="noStrike" dirty="0">
                        <a:solidFill>
                          <a:srgbClr val="C6C6C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612197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223295"/>
            <a:ext cx="11144250" cy="73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499270"/>
            <a:ext cx="3562350" cy="1381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4825" y="2499270"/>
            <a:ext cx="3562350" cy="1381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5775" y="2499270"/>
            <a:ext cx="3562350" cy="1381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1062" y="428625"/>
            <a:ext cx="11310937" cy="3885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Outfit"/>
              </a:rPr>
              <a:t>Estado Actual y Madurez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99020"/>
            <a:ext cx="242887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4461420"/>
            <a:ext cx="10668000" cy="2571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0F172A"/>
                </a:solidFill>
                <a:latin typeface="Plus Jakarta Sans SemiBold"/>
              </a:rPr>
              <a:t>En uso real en entorno operativo — Diseño probado end-to-end sin pendientes críticos abiertos.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785020"/>
            <a:ext cx="29908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38BDF8"/>
                </a:solidFill>
                <a:latin typeface="Outfit ExtraBold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413670"/>
            <a:ext cx="29908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Plus Jakarta Sans Medium"/>
              </a:rPr>
              <a:t>Tools MCP Activas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575" y="2785020"/>
            <a:ext cx="29908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38BDF8"/>
                </a:solidFill>
                <a:latin typeface="Outfit ExtraBold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0575" y="3413670"/>
            <a:ext cx="29908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Plus Jakarta Sans Medium"/>
              </a:rPr>
              <a:t>Skills en Producción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2785020"/>
            <a:ext cx="29908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38BDF8"/>
                </a:solidFill>
                <a:latin typeface="Outfit Extra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413670"/>
            <a:ext cx="29908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BD5E1"/>
                </a:solidFill>
                <a:latin typeface="Plus Jakarta Sans Medium"/>
              </a:rPr>
              <a:t>Hook de Enforcement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5012" y="4518570"/>
            <a:ext cx="171450" cy="171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75" y="3932634"/>
            <a:ext cx="4667250" cy="561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95500" y="2363241"/>
            <a:ext cx="800100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>
                <a:solidFill>
                  <a:srgbClr val="0F172A"/>
                </a:solidFill>
                <a:latin typeface="Outfit"/>
              </a:rPr>
              <a:t>¿Preguntas o Comentarios?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240" y="3231740"/>
            <a:ext cx="9568649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sz="1350" b="0" i="0" u="none" dirty="0" err="1">
                <a:solidFill>
                  <a:srgbClr val="64748B"/>
                </a:solidFill>
                <a:latin typeface="Plus Jakarta Sans"/>
              </a:rPr>
              <a:t>Agente</a:t>
            </a:r>
            <a:r>
              <a:rPr sz="1350" b="0" i="0" u="none" dirty="0">
                <a:solidFill>
                  <a:srgbClr val="64748B"/>
                </a:solidFill>
                <a:latin typeface="Plus Jakarta Sans"/>
              </a:rPr>
              <a:t> ZERO &amp; </a:t>
            </a:r>
            <a:r>
              <a:rPr sz="1350" b="0" i="0" u="none" dirty="0" err="1">
                <a:solidFill>
                  <a:srgbClr val="64748B"/>
                </a:solidFill>
                <a:latin typeface="Plus Jakarta Sans"/>
              </a:rPr>
              <a:t>mcp</a:t>
            </a:r>
            <a:r>
              <a:rPr sz="1350" b="0" i="0" u="none" dirty="0">
                <a:solidFill>
                  <a:srgbClr val="64748B"/>
                </a:solidFill>
                <a:latin typeface="Plus Jakarta Sans"/>
              </a:rPr>
              <a:t>-zero: </a:t>
            </a:r>
            <a:r>
              <a:rPr sz="1350" b="0" i="0" u="none" dirty="0" err="1">
                <a:solidFill>
                  <a:srgbClr val="64748B"/>
                </a:solidFill>
                <a:latin typeface="Plus Jakarta Sans"/>
              </a:rPr>
              <a:t>Innovación</a:t>
            </a:r>
            <a:r>
              <a:rPr sz="1350" b="0" i="0" u="none" dirty="0">
                <a:solidFill>
                  <a:srgbClr val="64748B"/>
                </a:solidFill>
                <a:latin typeface="Plus Jakarta Sans"/>
              </a:rPr>
              <a:t> y </a:t>
            </a:r>
            <a:r>
              <a:rPr sz="1350" b="0" i="0" u="none" dirty="0" err="1">
                <a:solidFill>
                  <a:srgbClr val="64748B"/>
                </a:solidFill>
                <a:latin typeface="Plus Jakarta Sans"/>
              </a:rPr>
              <a:t>colaboración</a:t>
            </a:r>
            <a:r>
              <a:rPr sz="1350" b="0" i="0" u="none" dirty="0">
                <a:solidFill>
                  <a:srgbClr val="64748B"/>
                </a:solidFill>
                <a:latin typeface="Plus Jakarta Sans"/>
              </a:rPr>
              <a:t> para la </a:t>
            </a:r>
            <a:r>
              <a:rPr sz="1350" b="0" i="0" u="none" dirty="0" err="1">
                <a:solidFill>
                  <a:srgbClr val="64748B"/>
                </a:solidFill>
                <a:latin typeface="Plus Jakarta Sans"/>
              </a:rPr>
              <a:t>modernización</a:t>
            </a:r>
            <a:r>
              <a:rPr sz="13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350" b="0" i="0" u="none" dirty="0" smtClean="0">
                <a:solidFill>
                  <a:srgbClr val="64748B"/>
                </a:solidFill>
                <a:latin typeface="Plus Jakarta Sans"/>
              </a:rPr>
              <a:t>del</a:t>
            </a:r>
            <a:r>
              <a:rPr lang="es-CL" sz="1350" b="0" i="0" u="none" dirty="0" smtClean="0">
                <a:solidFill>
                  <a:srgbClr val="64748B"/>
                </a:solidFill>
                <a:latin typeface="Plus Jakarta Sans"/>
              </a:rPr>
              <a:t> desarrollo</a:t>
            </a:r>
            <a:r>
              <a:rPr sz="1350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Plus Jakarta Sans"/>
              </a:rPr>
              <a:t>iSeries</a:t>
            </a:r>
            <a:r>
              <a:rPr sz="13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Plus Jakarta Sans"/>
              </a:rPr>
              <a:t>en</a:t>
            </a:r>
            <a:r>
              <a:rPr sz="1350" b="0" i="0" u="none" dirty="0">
                <a:solidFill>
                  <a:srgbClr val="64748B"/>
                </a:solidFill>
                <a:latin typeface="Plus Jakarta Sans"/>
              </a:rPr>
              <a:t> Banco </a:t>
            </a:r>
            <a:r>
              <a:rPr sz="1350" b="0" i="0" u="none" dirty="0" err="1">
                <a:solidFill>
                  <a:srgbClr val="64748B"/>
                </a:solidFill>
                <a:latin typeface="Plus Jakarta Sans"/>
              </a:rPr>
              <a:t>Internacional</a:t>
            </a:r>
            <a:endParaRPr sz="1350" b="0" i="0" u="none" dirty="0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350" y="4137421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91000" y="4113609"/>
            <a:ext cx="21240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34155"/>
                </a:solidFill>
                <a:latin typeface="Plus Jakarta Sans SemiBold"/>
              </a:rPr>
              <a:t>recheverria@internacional.cl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4137421"/>
            <a:ext cx="1143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10375" y="4113609"/>
            <a:ext cx="14382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34155"/>
                </a:solidFill>
                <a:latin typeface="Plus Jakarta Sans SemiBold"/>
              </a:rPr>
              <a:t>Banco Internacional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978</Words>
  <Application>Microsoft Office PowerPoint</Application>
  <PresentationFormat>Panorámica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1" baseType="lpstr">
      <vt:lpstr>Arial</vt:lpstr>
      <vt:lpstr>Calibri</vt:lpstr>
      <vt:lpstr>Courier New</vt:lpstr>
      <vt:lpstr>Outfit</vt:lpstr>
      <vt:lpstr>Outfit ExtraBold</vt:lpstr>
      <vt:lpstr>Outfit SemiBold</vt:lpstr>
      <vt:lpstr>Plus Jakarta Sans</vt:lpstr>
      <vt:lpstr>Plus Jakarta Sans Medium</vt:lpstr>
      <vt:lpstr>Plus Jakarta Sans SemiBold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Roberto Antonio Echeverría Estay</cp:lastModifiedBy>
  <cp:revision>7</cp:revision>
  <dcterms:created xsi:type="dcterms:W3CDTF">2013-01-27T09:14:16Z</dcterms:created>
  <dcterms:modified xsi:type="dcterms:W3CDTF">2026-09-02T19:11:14Z</dcterms:modified>
  <cp:category/>
</cp:coreProperties>
</file>